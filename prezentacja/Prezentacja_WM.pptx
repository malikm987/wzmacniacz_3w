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5"/>
  </p:notesMasterIdLst>
  <p:sldIdLst>
    <p:sldId id="256" r:id="rId2"/>
    <p:sldId id="257" r:id="rId3"/>
    <p:sldId id="258" r:id="rId4"/>
    <p:sldId id="265" r:id="rId5"/>
    <p:sldId id="266" r:id="rId6"/>
    <p:sldId id="259" r:id="rId7"/>
    <p:sldId id="267" r:id="rId8"/>
    <p:sldId id="260" r:id="rId9"/>
    <p:sldId id="268" r:id="rId10"/>
    <p:sldId id="261" r:id="rId11"/>
    <p:sldId id="269" r:id="rId12"/>
    <p:sldId id="262" r:id="rId13"/>
    <p:sldId id="270" r:id="rId14"/>
    <p:sldId id="263" r:id="rId15"/>
    <p:sldId id="272" r:id="rId16"/>
    <p:sldId id="271" r:id="rId17"/>
    <p:sldId id="273" r:id="rId18"/>
    <p:sldId id="274" r:id="rId19"/>
    <p:sldId id="275" r:id="rId20"/>
    <p:sldId id="276" r:id="rId21"/>
    <p:sldId id="279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30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B3F36-2207-4F0E-9B2F-281B59F68FA3}" type="datetimeFigureOut">
              <a:rPr lang="pl-PL" smtClean="0"/>
              <a:t>09.06.2025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63B8-DC11-403A-836B-C932CDA3A2E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6056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463B8-DC11-403A-836B-C932CDA3A2E3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47923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7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0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7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02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00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86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46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16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79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5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1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23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Wzmacniacz</a:t>
            </a:r>
            <a:r>
              <a:rPr dirty="0"/>
              <a:t> audio z</a:t>
            </a:r>
            <a:r>
              <a:rPr lang="pl-PL" dirty="0"/>
              <a:t> konwerterem S/PDIF i</a:t>
            </a:r>
            <a:r>
              <a:rPr dirty="0"/>
              <a:t> DAC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 algn="l">
              <a:defRPr sz="2000"/>
            </a:pPr>
            <a:endParaRPr lang="pl-PL" dirty="0"/>
          </a:p>
          <a:p>
            <a:pPr algn="l">
              <a:defRPr sz="2000"/>
            </a:pPr>
            <a:endParaRPr lang="pl-PL" dirty="0"/>
          </a:p>
          <a:p>
            <a:pPr algn="l">
              <a:defRPr sz="2000"/>
            </a:pPr>
            <a:endParaRPr lang="pl-PL" dirty="0"/>
          </a:p>
          <a:p>
            <a:pPr algn="l">
              <a:defRPr sz="2000"/>
            </a:pPr>
            <a:endParaRPr lang="pl-PL" dirty="0"/>
          </a:p>
          <a:p>
            <a:pPr algn="l">
              <a:defRPr sz="2000"/>
            </a:pPr>
            <a:endParaRPr lang="pl-PL" dirty="0"/>
          </a:p>
          <a:p>
            <a:pPr algn="l">
              <a:defRPr sz="2000"/>
            </a:pPr>
            <a:endParaRPr lang="pl-PL" dirty="0"/>
          </a:p>
          <a:p>
            <a:pPr algn="l">
              <a:defRPr sz="2000"/>
            </a:pPr>
            <a:endParaRPr lang="pl-PL" dirty="0"/>
          </a:p>
          <a:p>
            <a:pPr marL="0" indent="0" algn="l">
              <a:buNone/>
              <a:defRPr sz="2000"/>
            </a:pPr>
            <a:r>
              <a:rPr dirty="0"/>
              <a:t>Autor: Maciej Molik</a:t>
            </a:r>
            <a:endParaRPr lang="pl-PL" dirty="0"/>
          </a:p>
          <a:p>
            <a:pPr marL="0" indent="0" algn="l">
              <a:buNone/>
              <a:defRPr sz="2000"/>
            </a:pPr>
            <a:r>
              <a:rPr lang="pl-PL" dirty="0"/>
              <a:t>Elektronika</a:t>
            </a:r>
          </a:p>
          <a:p>
            <a:pPr marL="0" indent="0" algn="l">
              <a:buNone/>
              <a:defRPr sz="2000"/>
            </a:pPr>
            <a:r>
              <a:rPr lang="pl-PL" dirty="0"/>
              <a:t>Przedmiot: Projektowanie Urządzeń Elektronicznych</a:t>
            </a:r>
            <a:br>
              <a:rPr dirty="0"/>
            </a:br>
            <a:r>
              <a:rPr dirty="0" err="1"/>
              <a:t>Prowadzący</a:t>
            </a:r>
            <a:r>
              <a:rPr dirty="0"/>
              <a:t>: Cezary Worek</a:t>
            </a:r>
            <a:br>
              <a:rPr dirty="0"/>
            </a:br>
            <a:endParaRPr lang="pl-PL" dirty="0"/>
          </a:p>
          <a:p>
            <a:pPr marL="0" indent="0" algn="l">
              <a:buNone/>
              <a:defRPr sz="2000"/>
            </a:pPr>
            <a:r>
              <a:rPr dirty="0"/>
              <a:t>Data: 06.2025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7074F96-57E6-1EDA-54D7-904441480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81402" y="3604794"/>
            <a:ext cx="2133948" cy="288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2000"/>
            </a:pPr>
            <a:r>
              <a:rPr dirty="0"/>
              <a:t>Celem </a:t>
            </a:r>
            <a:r>
              <a:rPr dirty="0" err="1"/>
              <a:t>projektu</a:t>
            </a:r>
            <a:r>
              <a:rPr dirty="0"/>
              <a:t> jest </a:t>
            </a:r>
            <a:r>
              <a:rPr dirty="0" err="1"/>
              <a:t>zaprojektowanie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zbudowanie</a:t>
            </a:r>
            <a:r>
              <a:rPr dirty="0"/>
              <a:t> w </a:t>
            </a:r>
            <a:r>
              <a:rPr dirty="0" err="1"/>
              <a:t>pełni</a:t>
            </a:r>
            <a:r>
              <a:rPr dirty="0"/>
              <a:t> </a:t>
            </a:r>
            <a:r>
              <a:rPr dirty="0" err="1"/>
              <a:t>funkcjonalnego</a:t>
            </a:r>
            <a:r>
              <a:rPr dirty="0"/>
              <a:t> </a:t>
            </a:r>
            <a:r>
              <a:rPr dirty="0" err="1"/>
              <a:t>wzmacniacza</a:t>
            </a:r>
            <a:r>
              <a:rPr dirty="0"/>
              <a:t> audio </a:t>
            </a:r>
            <a:r>
              <a:rPr dirty="0" err="1"/>
              <a:t>zintegrowanego</a:t>
            </a:r>
            <a:r>
              <a:rPr dirty="0"/>
              <a:t> z </a:t>
            </a:r>
            <a:r>
              <a:rPr dirty="0" err="1"/>
              <a:t>wysokiej</a:t>
            </a:r>
            <a:r>
              <a:rPr dirty="0"/>
              <a:t> </a:t>
            </a:r>
            <a:r>
              <a:rPr dirty="0" err="1"/>
              <a:t>klasy</a:t>
            </a:r>
            <a:r>
              <a:rPr dirty="0"/>
              <a:t> </a:t>
            </a:r>
            <a:r>
              <a:rPr dirty="0" err="1"/>
              <a:t>przetwornikiem</a:t>
            </a:r>
            <a:r>
              <a:rPr dirty="0"/>
              <a:t> </a:t>
            </a:r>
            <a:r>
              <a:rPr dirty="0" err="1"/>
              <a:t>cyfrowo-analogowym</a:t>
            </a:r>
            <a:r>
              <a:rPr dirty="0"/>
              <a:t> (DAC). </a:t>
            </a:r>
            <a:r>
              <a:rPr dirty="0" err="1"/>
              <a:t>Układ</a:t>
            </a:r>
            <a:r>
              <a:rPr dirty="0"/>
              <a:t> </a:t>
            </a:r>
            <a:r>
              <a:rPr dirty="0" err="1"/>
              <a:t>odbiera</a:t>
            </a:r>
            <a:r>
              <a:rPr dirty="0"/>
              <a:t> </a:t>
            </a:r>
            <a:r>
              <a:rPr dirty="0" err="1"/>
              <a:t>sygnał</a:t>
            </a:r>
            <a:r>
              <a:rPr dirty="0"/>
              <a:t> </a:t>
            </a:r>
            <a:r>
              <a:rPr dirty="0" err="1"/>
              <a:t>cyfrowy</a:t>
            </a:r>
            <a:r>
              <a:rPr dirty="0"/>
              <a:t> S/PDIF, </a:t>
            </a:r>
            <a:r>
              <a:rPr dirty="0" err="1"/>
              <a:t>dekoduje</a:t>
            </a:r>
            <a:r>
              <a:rPr dirty="0"/>
              <a:t> do </a:t>
            </a:r>
            <a:r>
              <a:rPr dirty="0" err="1"/>
              <a:t>postaci</a:t>
            </a:r>
            <a:r>
              <a:rPr dirty="0"/>
              <a:t> PCM (I2S), </a:t>
            </a:r>
            <a:r>
              <a:rPr dirty="0" err="1"/>
              <a:t>konwertuje</a:t>
            </a:r>
            <a:r>
              <a:rPr dirty="0"/>
              <a:t> go w DAC do </a:t>
            </a:r>
            <a:r>
              <a:rPr dirty="0" err="1"/>
              <a:t>sygnału</a:t>
            </a:r>
            <a:r>
              <a:rPr dirty="0"/>
              <a:t> </a:t>
            </a:r>
            <a:r>
              <a:rPr dirty="0" err="1"/>
              <a:t>analogowego</a:t>
            </a:r>
            <a:r>
              <a:rPr dirty="0"/>
              <a:t>, a </a:t>
            </a:r>
            <a:r>
              <a:rPr dirty="0" err="1"/>
              <a:t>następnie</a:t>
            </a:r>
            <a:r>
              <a:rPr dirty="0"/>
              <a:t> </a:t>
            </a:r>
            <a:r>
              <a:rPr dirty="0" err="1"/>
              <a:t>wzmacnia</a:t>
            </a:r>
            <a:r>
              <a:rPr dirty="0"/>
              <a:t> </a:t>
            </a:r>
            <a:r>
              <a:rPr dirty="0" err="1"/>
              <a:t>sygnał</a:t>
            </a:r>
            <a:r>
              <a:rPr dirty="0"/>
              <a:t> </a:t>
            </a:r>
            <a:r>
              <a:rPr dirty="0" err="1"/>
              <a:t>analogowy</a:t>
            </a:r>
            <a:r>
              <a:rPr dirty="0"/>
              <a:t> </a:t>
            </a:r>
            <a:r>
              <a:rPr dirty="0" err="1"/>
              <a:t>zgodnie</a:t>
            </a:r>
            <a:r>
              <a:rPr dirty="0"/>
              <a:t> z </a:t>
            </a:r>
            <a:r>
              <a:rPr dirty="0" err="1"/>
              <a:t>parametrami</a:t>
            </a:r>
            <a:r>
              <a:rPr dirty="0"/>
              <a:t> </a:t>
            </a:r>
            <a:r>
              <a:rPr dirty="0" err="1"/>
              <a:t>ustalonymi</a:t>
            </a:r>
            <a:r>
              <a:rPr dirty="0"/>
              <a:t> </a:t>
            </a:r>
            <a:r>
              <a:rPr dirty="0" err="1"/>
              <a:t>przez</a:t>
            </a:r>
            <a:r>
              <a:rPr dirty="0"/>
              <a:t> </a:t>
            </a:r>
            <a:r>
              <a:rPr dirty="0" err="1"/>
              <a:t>mikrokontroler</a:t>
            </a:r>
            <a:r>
              <a:rPr dirty="0"/>
              <a:t> (</a:t>
            </a:r>
            <a:r>
              <a:rPr dirty="0" err="1"/>
              <a:t>głośność</a:t>
            </a:r>
            <a:r>
              <a:rPr dirty="0"/>
              <a:t>, mute).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Założenia</a:t>
            </a:r>
            <a:r>
              <a:rPr dirty="0"/>
              <a:t> </a:t>
            </a:r>
            <a:r>
              <a:rPr dirty="0" err="1"/>
              <a:t>projektowe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/>
            </a:pPr>
            <a:r>
              <a:t>• Moc wyjściowa: &gt;3 W</a:t>
            </a:r>
            <a:br/>
            <a:r>
              <a:t>• Wejście: S/PDIF koaksjalne</a:t>
            </a:r>
            <a:br/>
            <a:r>
              <a:t>• Sterowanie: mikrokontroler, SPI</a:t>
            </a:r>
            <a:br/>
            <a:r>
              <a:t>• Konwersja S/PDIF do I2S: DIR9001</a:t>
            </a:r>
            <a:br/>
            <a:r>
              <a:t>• Przetwornik C/A: AD1955</a:t>
            </a:r>
            <a:br/>
            <a:r>
              <a:t>• Końcówka mocy: tranzystorowa, klasa A</a:t>
            </a:r>
            <a:br/>
            <a:r>
              <a:t>• Symetryczne zasilanie ±12 V (sekcja analogowa)</a:t>
            </a:r>
            <a:br/>
            <a:r>
              <a:t>• Symetryczne ±5 V (cyfrowa)</a:t>
            </a:r>
            <a:br/>
            <a:r>
              <a:t>• Zasilanie 36 V dla stopnia mocy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F57260A-B7B4-7DB8-2159-F770E9BAD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Schemat blokowy</a:t>
            </a:r>
          </a:p>
        </p:txBody>
      </p:sp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F93D8BEB-23F2-8759-5833-99F08BD72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1940320"/>
            <a:ext cx="5085525" cy="297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64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A87F19E-E7AD-E537-8C40-F8BBDD40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Moduł</a:t>
            </a:r>
            <a:r>
              <a:rPr lang="en-US" sz="3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konwertera</a:t>
            </a:r>
            <a:br>
              <a:rPr lang="pl-PL" sz="3100" dirty="0">
                <a:solidFill>
                  <a:srgbClr val="FFFFFF"/>
                </a:solidFill>
              </a:rPr>
            </a:b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S/PDIF → I2S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0932AC5D-C1A2-72AF-A16B-2130DE49E8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1088494"/>
            <a:ext cx="5085525" cy="467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79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Moduł</a:t>
            </a:r>
            <a:r>
              <a:rPr dirty="0"/>
              <a:t> </a:t>
            </a:r>
            <a:r>
              <a:rPr dirty="0" err="1"/>
              <a:t>konwertera</a:t>
            </a:r>
            <a:r>
              <a:rPr dirty="0"/>
              <a:t> </a:t>
            </a:r>
            <a:br>
              <a:rPr lang="pl-PL" dirty="0"/>
            </a:br>
            <a:r>
              <a:rPr dirty="0"/>
              <a:t>S/PDIF → I2S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1200" dirty="0"/>
              <a:t>Moduł konwertera S/PDIF → I2S umożliwia odbiór cyfrowego sygnału audio (np. z odtwarzacza CD, TV) i przygotowanie go do konwersji na analogowy sygnał audio.</a:t>
            </a:r>
            <a:br>
              <a:rPr lang="pl-PL" sz="1200" dirty="0"/>
            </a:br>
            <a:r>
              <a:rPr lang="pl-PL" sz="1200" dirty="0"/>
              <a:t>Wchodzący sygnał S/PDIF (kodowany w standardzie </a:t>
            </a:r>
            <a:r>
              <a:rPr lang="pl-PL" sz="1200" dirty="0" err="1"/>
              <a:t>biphase</a:t>
            </a:r>
            <a:r>
              <a:rPr lang="pl-PL" sz="1200" dirty="0"/>
              <a:t> </a:t>
            </a:r>
            <a:r>
              <a:rPr lang="pl-PL" sz="1200" dirty="0" err="1"/>
              <a:t>mark</a:t>
            </a:r>
            <a:r>
              <a:rPr lang="pl-PL" sz="1200" dirty="0"/>
              <a:t> </a:t>
            </a:r>
            <a:r>
              <a:rPr lang="pl-PL" sz="1200" dirty="0" err="1"/>
              <a:t>code</a:t>
            </a:r>
            <a:r>
              <a:rPr lang="pl-PL" sz="1200" dirty="0"/>
              <a:t>, BMC) podawany jest na gniazdo RCA        (RCJ-043), a następnie trafia do odbiornika </a:t>
            </a:r>
            <a:r>
              <a:rPr lang="pl-PL" sz="1200" b="1" dirty="0"/>
              <a:t>DIR9001</a:t>
            </a:r>
            <a:r>
              <a:rPr lang="pl-PL" sz="1200" dirty="0"/>
              <a:t>.</a:t>
            </a:r>
          </a:p>
          <a:p>
            <a:pPr marL="0" indent="0">
              <a:buNone/>
            </a:pPr>
            <a:r>
              <a:rPr lang="pl-PL" sz="1200" dirty="0"/>
              <a:t>DIR9001 dekoduje dane audio i odzyskuje sygnały zegarowe – przy użyciu wbudowanego PLL synchronizuje się z sygnałem wejściowym, minimalizując </a:t>
            </a:r>
            <a:r>
              <a:rPr lang="pl-PL" sz="1200" dirty="0" err="1"/>
              <a:t>jitter</a:t>
            </a:r>
            <a:r>
              <a:rPr lang="pl-PL" sz="1200" dirty="0"/>
              <a:t>. Na wyjściu DIR9001 generuje sygnały:</a:t>
            </a:r>
          </a:p>
          <a:p>
            <a:r>
              <a:rPr lang="pl-PL" sz="1200" b="1" dirty="0"/>
              <a:t>LRCKO</a:t>
            </a:r>
            <a:r>
              <a:rPr lang="pl-PL" sz="1200" dirty="0"/>
              <a:t> – sygnał ramki audio (</a:t>
            </a:r>
            <a:r>
              <a:rPr lang="pl-PL" sz="1200" dirty="0" err="1"/>
              <a:t>Left</a:t>
            </a:r>
            <a:r>
              <a:rPr lang="pl-PL" sz="1200" dirty="0"/>
              <a:t>/Right </a:t>
            </a:r>
            <a:r>
              <a:rPr lang="pl-PL" sz="1200" dirty="0" err="1"/>
              <a:t>Clock</a:t>
            </a:r>
            <a:r>
              <a:rPr lang="pl-PL" sz="1200" dirty="0"/>
              <a:t>),</a:t>
            </a:r>
          </a:p>
          <a:p>
            <a:r>
              <a:rPr lang="pl-PL" sz="1200" b="1" dirty="0"/>
              <a:t>BCKO</a:t>
            </a:r>
            <a:r>
              <a:rPr lang="pl-PL" sz="1200" dirty="0"/>
              <a:t> – zegar bitowy,</a:t>
            </a:r>
          </a:p>
          <a:p>
            <a:r>
              <a:rPr lang="pl-PL" sz="1200" b="1" dirty="0"/>
              <a:t>DOUT</a:t>
            </a:r>
            <a:r>
              <a:rPr lang="pl-PL" sz="1200" dirty="0"/>
              <a:t> – zdekodowane dane audio PCM (16/24-bit).</a:t>
            </a:r>
          </a:p>
          <a:p>
            <a:pPr marL="0" indent="0">
              <a:buNone/>
            </a:pPr>
            <a:r>
              <a:rPr lang="pl-PL" sz="1200" dirty="0"/>
              <a:t>Dodatkowy bufor logiczny </a:t>
            </a:r>
            <a:r>
              <a:rPr lang="pl-PL" sz="1200" b="1" dirty="0"/>
              <a:t>SN74LVU04A</a:t>
            </a:r>
            <a:r>
              <a:rPr lang="pl-PL" sz="1200" dirty="0"/>
              <a:t> służy do kształtowania sygnałów I2S – eliminuje zniekształcenia, poprawia ostrość zboczy i zwiększa odporność na zakłócenia przy przesyłaniu danych.</a:t>
            </a:r>
          </a:p>
          <a:p>
            <a:pPr marL="0" indent="0">
              <a:buNone/>
            </a:pPr>
            <a:r>
              <a:rPr lang="pl-PL" sz="1200" dirty="0"/>
              <a:t>Kwarc 24,576 MHz stanowi stabilne źródło zegara dla DIR9001, umożliwiając dokładne dekodowanie sygnału i utrzymanie wysokiej jakości transmisji.</a:t>
            </a:r>
          </a:p>
          <a:p>
            <a:endParaRPr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635EC2C-A535-18CE-CF07-7C2EEF671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Moduł DAC – AD1955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3C78F0D5-F9CD-8BD0-898A-63978E42D5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113884"/>
            <a:ext cx="8178799" cy="351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3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4360" y="800783"/>
            <a:ext cx="6209169" cy="1323867"/>
          </a:xfrm>
        </p:spPr>
        <p:txBody>
          <a:bodyPr anchor="b">
            <a:normAutofit/>
          </a:bodyPr>
          <a:lstStyle/>
          <a:p>
            <a:r>
              <a:rPr dirty="0" err="1"/>
              <a:t>Moduł</a:t>
            </a:r>
            <a:r>
              <a:rPr dirty="0"/>
              <a:t> DAC – AD1955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840" y="2227699"/>
            <a:ext cx="7634320" cy="3829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900" dirty="0"/>
              <a:t>Moduł DAC (Digital-to-Analog Converter) to kluczowy element, który przekształca sygnał cyfrowy (I2S) na wysokiej jakości sygnał analogowy audio.</a:t>
            </a:r>
          </a:p>
          <a:p>
            <a:pPr marL="0" indent="0">
              <a:buNone/>
            </a:pPr>
            <a:r>
              <a:rPr lang="pl-PL" sz="900" dirty="0"/>
              <a:t>Sygnał cyfrowy w formacie I2S (LRCK, BCK, SDATA) jest dostarczany do wejść układu </a:t>
            </a:r>
            <a:r>
              <a:rPr lang="pl-PL" sz="900" b="1" dirty="0"/>
              <a:t>AD1955</a:t>
            </a:r>
            <a:r>
              <a:rPr lang="pl-PL" sz="900" dirty="0"/>
              <a:t>. Ten zaawansowany przetwornik audio wykorzystuje technologię sigma-delta oraz wbudowane filtry interpolacyjne, aby zminimalizować zniekształcenia i zapewnić wysoką jakość dźwięku.</a:t>
            </a:r>
          </a:p>
          <a:p>
            <a:pPr marL="0" indent="0">
              <a:buNone/>
            </a:pPr>
            <a:r>
              <a:rPr lang="pl-PL" sz="900" dirty="0"/>
              <a:t>Wyjścia prądowe AD1955 (IOUTL±, IOUTR±) są przekształcane na napięciowe za pomocą precyzyjnych układów konwersji prąd-napięcie (I/V) opartych na wzmacniaczach operacyjnych (np. AD797). Te układy pełnią również funkcję filtracji pasma i eliminacji </a:t>
            </a:r>
            <a:r>
              <a:rPr lang="pl-PL" sz="900" dirty="0" err="1"/>
              <a:t>aliasingu</a:t>
            </a:r>
            <a:r>
              <a:rPr lang="pl-PL" sz="900" dirty="0"/>
              <a:t>, co jest niezbędne w aplikacjach audio wysokiej jakości.</a:t>
            </a:r>
          </a:p>
          <a:p>
            <a:pPr marL="0" indent="0">
              <a:buNone/>
            </a:pPr>
            <a:r>
              <a:rPr lang="pl-PL" sz="900" dirty="0"/>
              <a:t>AD1955 umożliwia:</a:t>
            </a:r>
          </a:p>
          <a:p>
            <a:pPr marL="0" indent="0">
              <a:buNone/>
            </a:pPr>
            <a:r>
              <a:rPr lang="pl-PL" sz="900" dirty="0"/>
              <a:t>pracę z sygnałami PCM o częstotliwości próbkowania do 192 kHz,</a:t>
            </a:r>
          </a:p>
          <a:p>
            <a:pPr marL="0" indent="0">
              <a:buNone/>
            </a:pPr>
            <a:r>
              <a:rPr lang="pl-PL" sz="900" dirty="0"/>
              <a:t>rozdzielczość 16/18/20/24 bitów,</a:t>
            </a:r>
          </a:p>
          <a:p>
            <a:pPr marL="0" indent="0">
              <a:buNone/>
            </a:pPr>
            <a:r>
              <a:rPr lang="pl-PL" sz="900" dirty="0"/>
              <a:t>bardzo niski poziom szumów (SNR do 120 </a:t>
            </a:r>
            <a:r>
              <a:rPr lang="pl-PL" sz="900" dirty="0" err="1"/>
              <a:t>dB</a:t>
            </a:r>
            <a:r>
              <a:rPr lang="pl-PL" sz="900" dirty="0"/>
              <a:t> stereo) i zniekształceń (THD+N &lt; –110 </a:t>
            </a:r>
            <a:r>
              <a:rPr lang="pl-PL" sz="900" dirty="0" err="1"/>
              <a:t>dB</a:t>
            </a:r>
            <a:r>
              <a:rPr lang="pl-PL" sz="900" dirty="0"/>
              <a:t>).</a:t>
            </a:r>
          </a:p>
          <a:p>
            <a:pPr marL="0" indent="0">
              <a:buNone/>
            </a:pPr>
            <a:r>
              <a:rPr lang="pl-PL" sz="900" dirty="0"/>
              <a:t>Sterowanie parametrami pracy (np. wybór formatu danych, częstotliwości próbkowania, trybu stereo/mono, de-</a:t>
            </a:r>
            <a:r>
              <a:rPr lang="pl-PL" sz="900" dirty="0" err="1"/>
              <a:t>emfazji</a:t>
            </a:r>
            <a:r>
              <a:rPr lang="pl-PL" sz="900" dirty="0"/>
              <a:t> czy poziomu głośności) odbywa się przez interfejs SPI (linie CCLK, CLATCH, CDATA). Mikrokontroler umożliwia łatwe i elastyczne dostosowanie pracy modułu do wymagań całego wzmacniacza.</a:t>
            </a:r>
          </a:p>
          <a:p>
            <a:pPr marL="0" indent="0">
              <a:buNone/>
            </a:pPr>
            <a:r>
              <a:rPr lang="pl-PL" sz="900" dirty="0"/>
              <a:t>Na wyjściu modułu DAC znajduje się sygnał analogowy audio, gotowy do wzmocnienia przez stopień mocy i zasilenia głośników.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42C3DEB-340C-8C7A-8597-13FEB1875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Moduł mikrokontrolera (MCU)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692A757D-97F3-D1C3-6657-0A0555473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3652" y="643466"/>
            <a:ext cx="3884195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11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Moduł</a:t>
            </a:r>
            <a:r>
              <a:rPr dirty="0"/>
              <a:t> </a:t>
            </a:r>
            <a:r>
              <a:rPr dirty="0" err="1"/>
              <a:t>mikrokontrolera</a:t>
            </a:r>
            <a:r>
              <a:rPr dirty="0"/>
              <a:t> (MCU)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l-PL" sz="2000" b="1" dirty="0"/>
          </a:p>
          <a:p>
            <a:pPr marL="0" indent="0">
              <a:buNone/>
            </a:pPr>
            <a:r>
              <a:rPr lang="pl-PL" sz="2000" b="1" dirty="0"/>
              <a:t>Moduł MCU</a:t>
            </a:r>
            <a:endParaRPr lang="pl-PL" sz="2000" dirty="0"/>
          </a:p>
          <a:p>
            <a:r>
              <a:rPr lang="pl-PL" sz="2000" dirty="0"/>
              <a:t>Sterowanie DAC AD1955 przez SPI (format, częstotliwość, głośność, </a:t>
            </a:r>
            <a:r>
              <a:rPr lang="pl-PL" sz="2000" dirty="0" err="1"/>
              <a:t>mute</a:t>
            </a:r>
            <a:r>
              <a:rPr lang="pl-PL" sz="2000" dirty="0"/>
              <a:t>).</a:t>
            </a:r>
          </a:p>
          <a:p>
            <a:r>
              <a:rPr lang="pl-PL" sz="2000" dirty="0"/>
              <a:t>Cyfrowa regulacja głośności (14-bitowa).</a:t>
            </a:r>
          </a:p>
          <a:p>
            <a:r>
              <a:rPr lang="pl-PL" sz="2000" dirty="0"/>
              <a:t>Sterowanie trybem </a:t>
            </a:r>
            <a:r>
              <a:rPr lang="pl-PL" sz="2000" dirty="0" err="1"/>
              <a:t>mute</a:t>
            </a:r>
            <a:r>
              <a:rPr lang="pl-PL" sz="2000" dirty="0"/>
              <a:t> i de-emfazą.</a:t>
            </a:r>
          </a:p>
          <a:p>
            <a:r>
              <a:rPr lang="pl-PL" sz="2000" dirty="0"/>
              <a:t>Potencjalna obsługa przycisków/LED (interfejs użytkownika).</a:t>
            </a:r>
          </a:p>
          <a:p>
            <a:r>
              <a:rPr lang="pl-PL" sz="2000" dirty="0"/>
              <a:t>Kluczowy element zapewniający elastyczność i zaawansowane funkcje wzmacniacza audio.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1CA7F86-C9BB-A718-950E-571B5866B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Moduł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wzmacniacza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mocy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9109E855-6CB6-A400-EA4F-6083FD5EE0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1647902"/>
            <a:ext cx="5085525" cy="355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38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009" y="548639"/>
            <a:ext cx="2983230" cy="5719640"/>
          </a:xfrm>
        </p:spPr>
        <p:txBody>
          <a:bodyPr anchor="t">
            <a:normAutofit/>
          </a:bodyPr>
          <a:lstStyle/>
          <a:p>
            <a:r>
              <a:rPr lang="pl-PL" sz="3700" dirty="0"/>
              <a:t>Moduł wzmacniacza mocy </a:t>
            </a:r>
            <a:br>
              <a:rPr lang="pl-PL" sz="3700" dirty="0"/>
            </a:br>
            <a:endParaRPr lang="pl-PL" sz="3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0656" y="548639"/>
            <a:ext cx="4642335" cy="5861304"/>
          </a:xfrm>
        </p:spPr>
        <p:txBody>
          <a:bodyPr anchor="t">
            <a:normAutofit fontScale="62500" lnSpcReduction="20000"/>
          </a:bodyPr>
          <a:lstStyle/>
          <a:p>
            <a:pPr marL="0" indent="0">
              <a:buNone/>
            </a:pPr>
            <a:r>
              <a:rPr lang="pl-PL" sz="1800" dirty="0"/>
              <a:t>Moduł końcówki mocy wzmacnia sygnał analogowy do poziomu umożliwiającego zasilenie głośników. Wzmacniacz mocy został oparty o projekt Johna </a:t>
            </a:r>
            <a:r>
              <a:rPr lang="pl-PL" sz="1800" dirty="0" err="1"/>
              <a:t>Lourencea</a:t>
            </a:r>
            <a:r>
              <a:rPr lang="pl-PL" sz="1800" dirty="0"/>
              <a:t> </a:t>
            </a:r>
            <a:r>
              <a:rPr lang="pl-PL" sz="1800" dirty="0" err="1"/>
              <a:t>Linsleya</a:t>
            </a:r>
            <a:r>
              <a:rPr lang="pl-PL" sz="1800" dirty="0"/>
              <a:t>-Hooda z 1969.</a:t>
            </a:r>
          </a:p>
          <a:p>
            <a:pPr marL="0" indent="0">
              <a:buNone/>
            </a:pPr>
            <a:r>
              <a:rPr lang="pl-PL" sz="1800" dirty="0"/>
              <a:t>Głównym elementem modułu są tranzystory mocy </a:t>
            </a:r>
            <a:r>
              <a:rPr lang="pl-PL" sz="1800" b="1" dirty="0"/>
              <a:t>MJL4281AG</a:t>
            </a:r>
            <a:r>
              <a:rPr lang="pl-PL" sz="1800" dirty="0"/>
              <a:t>, które oferują:</a:t>
            </a:r>
          </a:p>
          <a:p>
            <a:r>
              <a:rPr lang="pl-PL" sz="1800" dirty="0"/>
              <a:t>maksymalny prąd kolektora: </a:t>
            </a:r>
            <a:r>
              <a:rPr lang="pl-PL" sz="1800" b="1" dirty="0"/>
              <a:t>15 A</a:t>
            </a:r>
            <a:r>
              <a:rPr lang="pl-PL" sz="1800" dirty="0"/>
              <a:t>,</a:t>
            </a:r>
          </a:p>
          <a:p>
            <a:r>
              <a:rPr lang="pl-PL" sz="1800" dirty="0"/>
              <a:t>napięcie kolektor-emiter: </a:t>
            </a:r>
            <a:r>
              <a:rPr lang="pl-PL" sz="1800" b="1" dirty="0"/>
              <a:t>350 V</a:t>
            </a:r>
            <a:r>
              <a:rPr lang="pl-PL" sz="1800" dirty="0"/>
              <a:t>,</a:t>
            </a:r>
          </a:p>
          <a:p>
            <a:pPr marL="0" indent="0">
              <a:buNone/>
            </a:pPr>
            <a:r>
              <a:rPr lang="pl-PL" sz="1800" dirty="0"/>
              <a:t>Ich zadaniem jest dostarczenie dużego prądu i napięcia do obciążenia (głośników), przy zachowaniu wysokiej liniowości sygnału i niskiego poziomu zniekształceń.</a:t>
            </a:r>
          </a:p>
          <a:p>
            <a:pPr marL="0" indent="0">
              <a:buNone/>
            </a:pPr>
            <a:br>
              <a:rPr lang="pl-PL" sz="1800" dirty="0"/>
            </a:br>
            <a:r>
              <a:rPr lang="pl-PL" sz="1800" dirty="0"/>
              <a:t>Driverami dla tych tranzystorów są </a:t>
            </a:r>
            <a:r>
              <a:rPr lang="pl-PL" sz="1800" b="1" dirty="0"/>
              <a:t>BD139</a:t>
            </a:r>
            <a:r>
              <a:rPr lang="pl-PL" sz="1800" dirty="0"/>
              <a:t> – tranzystory średniej mocy, które wzmacniają napięciowo sygnał audio i dostarczają wymagany prąd bazy do tranzystorów mocy.</a:t>
            </a:r>
            <a:br>
              <a:rPr lang="pl-PL" sz="1800" dirty="0"/>
            </a:br>
            <a:r>
              <a:rPr lang="pl-PL" sz="1800" dirty="0"/>
              <a:t>Parametry </a:t>
            </a:r>
            <a:r>
              <a:rPr lang="pl-PL" sz="1800" b="1" dirty="0"/>
              <a:t>BD139</a:t>
            </a:r>
            <a:r>
              <a:rPr lang="pl-PL" sz="1800" dirty="0"/>
              <a:t>:</a:t>
            </a:r>
          </a:p>
          <a:p>
            <a:r>
              <a:rPr lang="pl-PL" sz="1800" dirty="0" err="1"/>
              <a:t>Ic</a:t>
            </a:r>
            <a:r>
              <a:rPr lang="pl-PL" sz="1800" dirty="0"/>
              <a:t> = </a:t>
            </a:r>
            <a:r>
              <a:rPr lang="pl-PL" sz="1800" b="1" dirty="0"/>
              <a:t>1,5 A</a:t>
            </a:r>
            <a:r>
              <a:rPr lang="pl-PL" sz="1800" dirty="0"/>
              <a:t>,</a:t>
            </a:r>
          </a:p>
          <a:p>
            <a:r>
              <a:rPr lang="pl-PL" sz="1800" dirty="0" err="1"/>
              <a:t>Vce</a:t>
            </a:r>
            <a:r>
              <a:rPr lang="pl-PL" sz="1800" dirty="0"/>
              <a:t> = </a:t>
            </a:r>
            <a:r>
              <a:rPr lang="pl-PL" sz="1800" b="1" dirty="0"/>
              <a:t>80 V</a:t>
            </a:r>
            <a:r>
              <a:rPr lang="pl-PL" sz="1800" dirty="0"/>
              <a:t>,</a:t>
            </a:r>
          </a:p>
          <a:p>
            <a:pPr marL="0" indent="0">
              <a:buNone/>
            </a:pPr>
            <a:r>
              <a:rPr lang="pl-PL" sz="1800" dirty="0"/>
              <a:t>pasmo przenoszenia: </a:t>
            </a:r>
            <a:r>
              <a:rPr lang="pl-PL" sz="1800" b="1" dirty="0"/>
              <a:t>190 MHz</a:t>
            </a:r>
            <a:r>
              <a:rPr lang="pl-PL" sz="1800" dirty="0"/>
              <a:t> – szybka odpowiedź na sygnał.</a:t>
            </a:r>
          </a:p>
          <a:p>
            <a:pPr marL="0" indent="0">
              <a:buNone/>
            </a:pPr>
            <a:r>
              <a:rPr lang="pl-PL" sz="1800" dirty="0"/>
              <a:t>Pomocnicze tranzystory </a:t>
            </a:r>
            <a:r>
              <a:rPr lang="pl-PL" sz="1800" b="1" dirty="0"/>
              <a:t>BC557C</a:t>
            </a:r>
            <a:r>
              <a:rPr lang="pl-PL" sz="1800" dirty="0"/>
              <a:t> (PNP) stabilizują pracę wzmacniacza – odpowiadają za precyzyjne ustawienie punktu pracy i kompensację termiczną.</a:t>
            </a:r>
            <a:br>
              <a:rPr lang="pl-PL" sz="1800" dirty="0"/>
            </a:br>
            <a:r>
              <a:rPr lang="pl-PL" sz="1800" dirty="0"/>
              <a:t>Parametry </a:t>
            </a:r>
            <a:r>
              <a:rPr lang="pl-PL" sz="1800" b="1" dirty="0"/>
              <a:t>BC557C</a:t>
            </a:r>
            <a:r>
              <a:rPr lang="pl-PL" sz="1800" dirty="0"/>
              <a:t>:</a:t>
            </a:r>
          </a:p>
          <a:p>
            <a:r>
              <a:rPr lang="pl-PL" sz="1800" dirty="0" err="1"/>
              <a:t>Ic</a:t>
            </a:r>
            <a:r>
              <a:rPr lang="pl-PL" sz="1800" dirty="0"/>
              <a:t> = </a:t>
            </a:r>
            <a:r>
              <a:rPr lang="pl-PL" sz="1800" b="1" dirty="0"/>
              <a:t>100 </a:t>
            </a:r>
            <a:r>
              <a:rPr lang="pl-PL" sz="1800" b="1" dirty="0" err="1"/>
              <a:t>mA</a:t>
            </a:r>
            <a:r>
              <a:rPr lang="pl-PL" sz="1800" dirty="0"/>
              <a:t>,</a:t>
            </a:r>
          </a:p>
          <a:p>
            <a:r>
              <a:rPr lang="pl-PL" sz="1800" dirty="0" err="1"/>
              <a:t>Vce</a:t>
            </a:r>
            <a:r>
              <a:rPr lang="pl-PL" sz="1800" dirty="0"/>
              <a:t> = </a:t>
            </a:r>
            <a:r>
              <a:rPr lang="pl-PL" sz="1800" b="1" dirty="0"/>
              <a:t>50 V</a:t>
            </a:r>
            <a:r>
              <a:rPr lang="pl-PL" sz="1800" dirty="0"/>
              <a:t>,</a:t>
            </a:r>
          </a:p>
          <a:p>
            <a:pPr marL="0" indent="0">
              <a:buNone/>
            </a:pPr>
            <a:r>
              <a:rPr lang="pl-PL" sz="1800" dirty="0"/>
              <a:t>Końcówka mocy pracuje w klasie A, co oznacza, że przez tranzystory mocy płynie stały prąd spoczynkowy. Dzięki temu wyeliminowane są zniekształcenia przejściowe (</a:t>
            </a:r>
            <a:r>
              <a:rPr lang="pl-PL" sz="1800" dirty="0" err="1"/>
              <a:t>crossover</a:t>
            </a:r>
            <a:r>
              <a:rPr lang="pl-PL" sz="1800" dirty="0"/>
              <a:t> </a:t>
            </a:r>
            <a:r>
              <a:rPr lang="pl-PL" sz="1800" dirty="0" err="1"/>
              <a:t>distortion</a:t>
            </a:r>
            <a:r>
              <a:rPr lang="pl-PL" sz="1800" dirty="0"/>
              <a:t>), a dźwięk jest czysty i naturalny.</a:t>
            </a:r>
            <a:br>
              <a:rPr lang="pl-PL" sz="1800" dirty="0"/>
            </a:br>
            <a:r>
              <a:rPr lang="pl-PL" sz="1800" dirty="0"/>
              <a:t>Zastosowane sprzężenie zwrotne stabilizuje wzmocnienie oraz minimalizuje zniekształcenia sygnału, co przekłada się na wysoką jakość brzmienia.</a:t>
            </a:r>
          </a:p>
          <a:p>
            <a:pPr marL="0" indent="0">
              <a:buNone/>
            </a:pPr>
            <a:r>
              <a:rPr lang="pl-PL" sz="1800" dirty="0"/>
              <a:t>Końcówka mocy jest zasilana pojedynczym napięciem </a:t>
            </a:r>
            <a:r>
              <a:rPr lang="pl-PL" sz="1800" b="1" dirty="0"/>
              <a:t>+36 V</a:t>
            </a:r>
            <a:r>
              <a:rPr lang="pl-PL" sz="1800" dirty="0"/>
              <a:t>, co umożliwia osiągnięcie mocy wyjściowej </a:t>
            </a:r>
            <a:r>
              <a:rPr lang="pl-PL" sz="1800" b="1" dirty="0"/>
              <a:t>&gt; 3 W RMS</a:t>
            </a:r>
            <a:r>
              <a:rPr lang="pl-PL" sz="1800" dirty="0"/>
              <a:t> dla głośników o impedancji 4–8 Ω.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DC5FEAF-25B4-B77A-7D7A-A343BA7B8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Moduł zasilania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970C1689-8E54-AFD5-B0B0-6267E3228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1590690"/>
            <a:ext cx="5085525" cy="367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937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Moduł</a:t>
            </a:r>
            <a:r>
              <a:rPr dirty="0"/>
              <a:t> </a:t>
            </a:r>
            <a:r>
              <a:rPr dirty="0" err="1"/>
              <a:t>zasilania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l-PL" dirty="0"/>
              <a:t>Moduł zasilania jest fundamentem stabilnej pracy całego wzmacniacza audio. Zapewnia:</a:t>
            </a:r>
          </a:p>
          <a:p>
            <a:r>
              <a:rPr lang="pl-PL" b="1" dirty="0"/>
              <a:t>+3,3 V</a:t>
            </a:r>
            <a:r>
              <a:rPr lang="pl-PL" dirty="0"/>
              <a:t> (cyfrowe układy: DAC, odbiornik S/PDIF),</a:t>
            </a:r>
          </a:p>
          <a:p>
            <a:r>
              <a:rPr lang="pl-PL" b="1" dirty="0"/>
              <a:t>±5 V</a:t>
            </a:r>
            <a:r>
              <a:rPr lang="pl-PL" dirty="0"/>
              <a:t> (część analogowa),</a:t>
            </a:r>
          </a:p>
          <a:p>
            <a:r>
              <a:rPr lang="pl-PL" b="1" dirty="0"/>
              <a:t>±12 V</a:t>
            </a:r>
            <a:r>
              <a:rPr lang="pl-PL" dirty="0"/>
              <a:t> (wzmacniacze operacyjne w filtrach I/V),</a:t>
            </a:r>
          </a:p>
          <a:p>
            <a:r>
              <a:rPr lang="pl-PL" b="1" dirty="0"/>
              <a:t>+36 V</a:t>
            </a:r>
            <a:r>
              <a:rPr lang="pl-PL" dirty="0"/>
              <a:t> (końcówka mocy).</a:t>
            </a:r>
          </a:p>
          <a:p>
            <a:pPr marL="0" indent="0">
              <a:buNone/>
            </a:pPr>
            <a:r>
              <a:rPr lang="pl-PL" dirty="0"/>
              <a:t>Prostowniki MB6S i duże kondensatory filtrujące gwarantują stabilne, czyste napięcia.</a:t>
            </a:r>
            <a:br>
              <a:rPr lang="pl-PL" dirty="0"/>
            </a:br>
            <a:r>
              <a:rPr lang="pl-PL" dirty="0"/>
              <a:t>Stabilizatory napięcia (</a:t>
            </a:r>
            <a:r>
              <a:rPr lang="pl-PL" b="1" dirty="0"/>
              <a:t>L7805</a:t>
            </a:r>
            <a:r>
              <a:rPr lang="pl-PL" dirty="0"/>
              <a:t>, </a:t>
            </a:r>
            <a:r>
              <a:rPr lang="pl-PL" b="1" dirty="0"/>
              <a:t>L7905</a:t>
            </a:r>
            <a:r>
              <a:rPr lang="pl-PL" dirty="0"/>
              <a:t>, </a:t>
            </a:r>
            <a:r>
              <a:rPr lang="pl-PL" b="1" dirty="0"/>
              <a:t>REG1117-3.3</a:t>
            </a:r>
            <a:r>
              <a:rPr lang="pl-PL" dirty="0"/>
              <a:t>) dbają o minimalne tętnienia i wysoką jakość zasilania.</a:t>
            </a:r>
            <a:br>
              <a:rPr lang="pl-PL" dirty="0"/>
            </a:br>
            <a:r>
              <a:rPr lang="pl-PL" dirty="0"/>
              <a:t>Separacja mas i dławiki ferrytowe minimalizują zakłócenia między częściami cyfrowymi i analogowymi, co przekłada się na jakość dźwięku w systemie audio.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D3738FA-7157-9851-876F-BD7DF3ADF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Symulacja Wzmacniacza Mocy</a:t>
            </a:r>
          </a:p>
        </p:txBody>
      </p:sp>
      <p:pic>
        <p:nvPicPr>
          <p:cNvPr id="4" name="Symbol zastępczy zawartości 3" descr="Obraz zawierający diagram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E3C96A8B-ED5F-62AE-AA49-0F9F637CD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2404374"/>
            <a:ext cx="5085525" cy="204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49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69D075-2C1C-0F7B-FD94-AE37B03C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Symulacja Wzmacniacza Mocy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C0052D9-A7A9-07A6-3042-EE3EEDAC9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dirty="0"/>
              <a:t>Symulacja wzmacniacza audio miała na celu sprawdzenie parametrów kluczowych dla jakości dźwięku: pasma przenoszenia, wzmocnienia, mocy wyjściowej i zniekształceń harmonicznych.</a:t>
            </a:r>
            <a:br>
              <a:rPr lang="pl-PL" dirty="0"/>
            </a:br>
            <a:r>
              <a:rPr lang="pl-PL" dirty="0"/>
              <a:t>Wyniki potwierdziły szerokie pasmo przenoszenia (</a:t>
            </a:r>
            <a:r>
              <a:rPr lang="pl-PL" b="1" dirty="0"/>
              <a:t>11 </a:t>
            </a:r>
            <a:r>
              <a:rPr lang="pl-PL" b="1" dirty="0" err="1"/>
              <a:t>Hz</a:t>
            </a:r>
            <a:r>
              <a:rPr lang="pl-PL" b="1" dirty="0"/>
              <a:t> – 5 MHz</a:t>
            </a:r>
            <a:r>
              <a:rPr lang="pl-PL" dirty="0"/>
              <a:t>), wzmocnienie na poziomie </a:t>
            </a:r>
            <a:r>
              <a:rPr lang="pl-PL" b="1" dirty="0"/>
              <a:t>16–24 </a:t>
            </a:r>
            <a:r>
              <a:rPr lang="pl-PL" b="1" dirty="0" err="1"/>
              <a:t>dB</a:t>
            </a:r>
            <a:r>
              <a:rPr lang="pl-PL" dirty="0"/>
              <a:t> i możliwość oddania mocy szczytowej </a:t>
            </a:r>
            <a:r>
              <a:rPr lang="pl-PL" b="1" dirty="0"/>
              <a:t>25 W</a:t>
            </a:r>
            <a:r>
              <a:rPr lang="pl-PL" dirty="0"/>
              <a:t>, co w praktyce przekłada się na około </a:t>
            </a:r>
            <a:r>
              <a:rPr lang="pl-PL" b="1" dirty="0"/>
              <a:t>13 W RMS</a:t>
            </a:r>
            <a:r>
              <a:rPr lang="pl-PL" dirty="0"/>
              <a:t> przy obciążeniu 8 Ω.</a:t>
            </a:r>
            <a:br>
              <a:rPr lang="pl-PL" dirty="0"/>
            </a:br>
            <a:r>
              <a:rPr lang="pl-PL" dirty="0"/>
              <a:t>Zniekształcenia THD wynoszą </a:t>
            </a:r>
            <a:r>
              <a:rPr lang="pl-PL" b="1" dirty="0"/>
              <a:t>0,42%</a:t>
            </a:r>
            <a:r>
              <a:rPr lang="pl-PL" dirty="0"/>
              <a:t>, co plasuje wzmacniacz w klasie </a:t>
            </a:r>
            <a:r>
              <a:rPr lang="pl-PL" dirty="0" err="1"/>
              <a:t>HiFi</a:t>
            </a:r>
            <a:r>
              <a:rPr lang="pl-PL" dirty="0"/>
              <a:t> – zapewnia czysty, mocny dźwięk w całym paśmie słyszalnym.</a:t>
            </a:r>
            <a:br>
              <a:rPr lang="pl-PL" dirty="0"/>
            </a:br>
            <a:r>
              <a:rPr lang="pl-PL" dirty="0"/>
              <a:t>Symulacja potwierdza, że układ jest zoptymalizowany pod kątem jakości audio i spełnia założenia projektowe.</a:t>
            </a:r>
          </a:p>
        </p:txBody>
      </p:sp>
    </p:spTree>
    <p:extLst>
      <p:ext uri="{BB962C8B-B14F-4D97-AF65-F5344CB8AC3E}">
        <p14:creationId xmlns:p14="http://schemas.microsoft.com/office/powerpoint/2010/main" val="1957039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91408A1-6484-7F8C-8D57-AA582A22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4837132"/>
            <a:ext cx="3528823" cy="1615684"/>
          </a:xfrm>
        </p:spPr>
        <p:txBody>
          <a:bodyPr>
            <a:normAutofit fontScale="90000"/>
          </a:bodyPr>
          <a:lstStyle/>
          <a:p>
            <a:r>
              <a:rPr lang="pl-PL" dirty="0"/>
              <a:t>Badanie Pasma</a:t>
            </a:r>
            <a:br>
              <a:rPr lang="pl-PL" dirty="0"/>
            </a:br>
            <a:r>
              <a:rPr lang="pl-PL" dirty="0"/>
              <a:t>Przenoszenia</a:t>
            </a:r>
          </a:p>
        </p:txBody>
      </p:sp>
      <p:pic>
        <p:nvPicPr>
          <p:cNvPr id="9" name="Obraz 8" descr="Obraz zawierający tekst, diagram, linia, Wykres&#10;&#10;Zawartość wygenerowana przez AI może być niepoprawna.">
            <a:extLst>
              <a:ext uri="{FF2B5EF4-FFF2-40B4-BE49-F238E27FC236}">
                <a16:creationId xmlns:a16="http://schemas.microsoft.com/office/drawing/2014/main" id="{28FACF76-CB69-CD0C-4104-549B5EA128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15"/>
          <a:stretch>
            <a:fillRect/>
          </a:stretch>
        </p:blipFill>
        <p:spPr>
          <a:xfrm>
            <a:off x="20" y="10"/>
            <a:ext cx="9143980" cy="4557776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4F24F12-2306-C4CD-86C9-3E6E7761F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4499" y="4837132"/>
            <a:ext cx="4315176" cy="16156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1600" i="1" dirty="0"/>
              <a:t>Symulacja układu wzmacniacza wykazała że pasmo tego układu wynosi od 11.14Hz do 5.18MHz</a:t>
            </a:r>
            <a:endParaRPr lang="pl-PL" sz="1600" dirty="0"/>
          </a:p>
          <a:p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3390776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3353FA7-E5DD-4668-B45C-EFE85BB05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4837132"/>
            <a:ext cx="3528823" cy="1615684"/>
          </a:xfrm>
        </p:spPr>
        <p:txBody>
          <a:bodyPr>
            <a:normAutofit/>
          </a:bodyPr>
          <a:lstStyle/>
          <a:p>
            <a:r>
              <a:rPr lang="pl-PL" sz="3400" i="1"/>
              <a:t>Badanie Wzmocnienia Napięciowego</a:t>
            </a:r>
            <a:endParaRPr lang="pl-PL" sz="3400"/>
          </a:p>
        </p:txBody>
      </p:sp>
      <p:pic>
        <p:nvPicPr>
          <p:cNvPr id="4" name="Obraz 3" descr="Obraz zawierający tekst, Wykres, zrzut ekranu, diagram&#10;&#10;Zawartość wygenerowana przez AI może być niepoprawna.">
            <a:extLst>
              <a:ext uri="{FF2B5EF4-FFF2-40B4-BE49-F238E27FC236}">
                <a16:creationId xmlns:a16="http://schemas.microsoft.com/office/drawing/2014/main" id="{B037503A-F37A-2BF6-9E2D-B082ECD2E8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43"/>
          <a:stretch>
            <a:fillRect/>
          </a:stretch>
        </p:blipFill>
        <p:spPr>
          <a:xfrm>
            <a:off x="20" y="10"/>
            <a:ext cx="9143980" cy="4557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B7E41D9E-41A3-72F6-1595-9698F7756F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14499" y="4837132"/>
                <a:ext cx="4315176" cy="16156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l-PL" sz="1500" i="1" dirty="0"/>
                  <a:t>Symulacja układu wzmacniacza wykazała że wzmocnienie napięciowe obliczone ze wzoru </a:t>
                </a:r>
                <a:endParaRPr lang="pl-PL" sz="1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5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l-PL" sz="15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pl-PL" sz="15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l-PL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5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1500" i="1">
                                  <a:latin typeface="Cambria Math" panose="02040503050406030204" pitchFamily="18" charset="0"/>
                                </a:rPr>
                                <m:t>𝑤𝑦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l-PL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5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l-PL" sz="1500" i="1">
                                  <a:latin typeface="Cambria Math" panose="02040503050406030204" pitchFamily="18" charset="0"/>
                                </a:rPr>
                                <m:t>𝑤𝑒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l-PL" sz="1500" dirty="0"/>
              </a:p>
              <a:p>
                <a:pPr marL="0" indent="0">
                  <a:buNone/>
                </a:pPr>
                <a:r>
                  <a:rPr lang="pl-PL" sz="1500" i="1" dirty="0"/>
                  <a:t>I wynosi 16,25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1500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pl-PL" sz="1500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pl-PL" sz="1500" i="1" dirty="0"/>
                  <a:t> i 24,22 </a:t>
                </a:r>
                <a:r>
                  <a:rPr lang="pl-PL" sz="1500" i="1" dirty="0" err="1"/>
                  <a:t>dB</a:t>
                </a:r>
                <a:r>
                  <a:rPr lang="pl-PL" sz="1500" i="1" dirty="0"/>
                  <a:t> dla częstotliwości 1kHz</a:t>
                </a:r>
                <a:endParaRPr lang="pl-PL" sz="1500" dirty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B7E41D9E-41A3-72F6-1595-9698F7756F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14499" y="4837132"/>
                <a:ext cx="4315176" cy="1615684"/>
              </a:xfrm>
              <a:blipFill>
                <a:blip r:embed="rId3"/>
                <a:stretch>
                  <a:fillRect l="-566" t="-1880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436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1D047D5-6A8B-10F5-ECA7-E07307F2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4837132"/>
            <a:ext cx="3528823" cy="1615684"/>
          </a:xfrm>
        </p:spPr>
        <p:txBody>
          <a:bodyPr>
            <a:normAutofit/>
          </a:bodyPr>
          <a:lstStyle/>
          <a:p>
            <a:r>
              <a:rPr lang="pl-PL" sz="3400" i="1"/>
              <a:t>Badanie Mocy Wyjściowej </a:t>
            </a:r>
            <a:br>
              <a:rPr lang="pl-PL" sz="3400"/>
            </a:br>
            <a:endParaRPr lang="pl-PL" sz="3400"/>
          </a:p>
        </p:txBody>
      </p:sp>
      <p:pic>
        <p:nvPicPr>
          <p:cNvPr id="4" name="Obraz 3" descr="Obraz zawierający tekst, linia, diagram, Czcionka&#10;&#10;Zawartość wygenerowana przez AI może być niepoprawna.">
            <a:extLst>
              <a:ext uri="{FF2B5EF4-FFF2-40B4-BE49-F238E27FC236}">
                <a16:creationId xmlns:a16="http://schemas.microsoft.com/office/drawing/2014/main" id="{3AD251DE-225D-EE80-0CAD-F5698453C9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43"/>
          <a:stretch>
            <a:fillRect/>
          </a:stretch>
        </p:blipFill>
        <p:spPr>
          <a:xfrm>
            <a:off x="20" y="10"/>
            <a:ext cx="9143980" cy="4557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663DE366-3C19-2E89-EED1-A237C8DD3E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14499" y="4837132"/>
                <a:ext cx="4315176" cy="16156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l-PL" sz="1600" dirty="0"/>
                  <a:t>Korzystając ze wzoru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l-PL" sz="1600" i="1">
                            <a:latin typeface="Cambria Math" panose="02040503050406030204" pitchFamily="18" charset="0"/>
                          </a:rPr>
                          <m:t>𝑟𝑚𝑠</m:t>
                        </m:r>
                      </m:sub>
                    </m:sSub>
                    <m:r>
                      <a:rPr lang="pl-PL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l-PL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1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l-PL" sz="16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pl-PL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pl-PL" sz="1600" dirty="0"/>
              </a:p>
              <a:p>
                <a:pPr marL="0" indent="0">
                  <a:buNone/>
                </a:pPr>
                <a:r>
                  <a:rPr lang="pl-PL" sz="1600" dirty="0"/>
                  <a:t>Otrzymujemy wynik </a:t>
                </a:r>
                <a:r>
                  <a:rPr lang="pl-PL" sz="1600" i="1" dirty="0"/>
                  <a:t>12,9W</a:t>
                </a:r>
                <a:endParaRPr lang="pl-PL" sz="1600" dirty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663DE366-3C19-2E89-EED1-A237C8DD3E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14499" y="4837132"/>
                <a:ext cx="4315176" cy="1615684"/>
              </a:xfrm>
              <a:blipFill>
                <a:blip r:embed="rId3"/>
                <a:stretch>
                  <a:fillRect l="-84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9553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D5D9FE6-DE33-2755-A6A1-7A1D49759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4837132"/>
            <a:ext cx="3528823" cy="1615684"/>
          </a:xfrm>
        </p:spPr>
        <p:txBody>
          <a:bodyPr>
            <a:normAutofit/>
          </a:bodyPr>
          <a:lstStyle/>
          <a:p>
            <a:r>
              <a:rPr lang="pl-PL" i="1" dirty="0"/>
              <a:t>Badanie THD</a:t>
            </a:r>
            <a:br>
              <a:rPr lang="pl-PL" dirty="0"/>
            </a:br>
            <a:endParaRPr lang="pl-PL" dirty="0"/>
          </a:p>
        </p:txBody>
      </p:sp>
      <p:pic>
        <p:nvPicPr>
          <p:cNvPr id="4" name="Obraz 3" descr="Obraz zawierający linia, tekst, Wykres, diagram&#10;&#10;Zawartość wygenerowana przez AI może być niepoprawna.">
            <a:extLst>
              <a:ext uri="{FF2B5EF4-FFF2-40B4-BE49-F238E27FC236}">
                <a16:creationId xmlns:a16="http://schemas.microsoft.com/office/drawing/2014/main" id="{D76C3828-28D9-2952-41B8-018BA4DE4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42"/>
          <a:stretch>
            <a:fillRect/>
          </a:stretch>
        </p:blipFill>
        <p:spPr>
          <a:xfrm>
            <a:off x="20" y="10"/>
            <a:ext cx="9143980" cy="4557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6AE63BC3-F876-27B2-8470-560C1BD5D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14499" y="4837132"/>
                <a:ext cx="4315176" cy="16156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600" i="1">
                          <a:latin typeface="Cambria Math" panose="02040503050406030204" pitchFamily="18" charset="0"/>
                        </a:rPr>
                        <m:t>𝑇𝐻𝐷</m:t>
                      </m:r>
                      <m:r>
                        <a:rPr lang="pl-PL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l-PL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pl-P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l-PL" sz="16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pl-PL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pl-PL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pl-PL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pl-P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l-PL" sz="16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pl-PL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pl-PL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pl-PL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pl-P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l-PL" sz="16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pl-PL" sz="16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pl-PL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num>
                        <m:den>
                          <m:sSub>
                            <m:sSubPr>
                              <m:ctrlPr>
                                <a:rPr lang="pl-PL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6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pl-PL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l-PL" sz="1600" dirty="0"/>
              </a:p>
              <a:p>
                <a:pPr marL="0" indent="0">
                  <a:buNone/>
                </a:pPr>
                <a:r>
                  <a:rPr lang="pl-PL" sz="1600" i="1" dirty="0"/>
                  <a:t>Po obliczeniach otrzymaliśmy wynik że </a:t>
                </a:r>
                <a:endParaRPr lang="pl-PL" sz="1600" dirty="0"/>
              </a:p>
              <a:p>
                <a:pPr marL="0" indent="0">
                  <a:buNone/>
                </a:pPr>
                <a:r>
                  <a:rPr lang="pl-PL" sz="1600" i="1" dirty="0"/>
                  <a:t>THD = 4,22E-03</a:t>
                </a:r>
                <a:endParaRPr lang="pl-PL" sz="1600" dirty="0"/>
              </a:p>
              <a:p>
                <a:endParaRPr lang="pl-PL" sz="1600" dirty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6AE63BC3-F876-27B2-8470-560C1BD5D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14499" y="4837132"/>
                <a:ext cx="4315176" cy="1615684"/>
              </a:xfrm>
              <a:blipFill>
                <a:blip r:embed="rId3"/>
                <a:stretch>
                  <a:fillRect l="-84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8070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9690CC4-F7E5-E53B-0FB9-44747B5EB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4837132"/>
            <a:ext cx="3528823" cy="1615684"/>
          </a:xfrm>
        </p:spPr>
        <p:txBody>
          <a:bodyPr>
            <a:normAutofit/>
          </a:bodyPr>
          <a:lstStyle/>
          <a:p>
            <a:r>
              <a:rPr lang="pl-PL"/>
              <a:t>Badanie Sprawnośći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F39114EA-3B10-930D-9B38-C9517D9BE5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14"/>
          <a:stretch>
            <a:fillRect/>
          </a:stretch>
        </p:blipFill>
        <p:spPr>
          <a:xfrm>
            <a:off x="20" y="10"/>
            <a:ext cx="9143980" cy="4557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8FCE0D99-CAD7-21CC-DB2D-0B1CA72B30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14499" y="4837132"/>
                <a:ext cx="4315176" cy="16156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l-PL" sz="1600" dirty="0"/>
                  <a:t>Z symulacji wynika że sprawność według wzoru </a:t>
                </a:r>
                <a:endParaRPr lang="pl-PL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pl-P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l-P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pl-P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𝑜𝑢𝑡</m:t>
                              </m:r>
                              <m:r>
                                <a:rPr lang="pl-P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l-P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𝑅𝑀𝑆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l-P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l-P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𝑠𝑝𝑜𝑐𝑧</m:t>
                              </m:r>
                            </m:sub>
                          </m:sSub>
                          <m:r>
                            <a:rPr lang="pl-PL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pl-P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pl-PL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l-PL" sz="1600" dirty="0"/>
              </a:p>
              <a:p>
                <a:pPr marL="0" indent="0">
                  <a:buNone/>
                </a:pPr>
                <a:r>
                  <a:rPr lang="pl-PL" sz="1600" dirty="0"/>
                  <a:t>wynosi 25,32%</a:t>
                </a:r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8FCE0D99-CAD7-21CC-DB2D-0B1CA72B30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14499" y="4837132"/>
                <a:ext cx="4315176" cy="1615684"/>
              </a:xfrm>
              <a:blipFill>
                <a:blip r:embed="rId3"/>
                <a:stretch>
                  <a:fillRect l="-849" t="-2632" r="-113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3945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11EAF11-D6E0-794D-C557-23D2D8BDC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PCB</a:t>
            </a:r>
          </a:p>
        </p:txBody>
      </p:sp>
      <p:pic>
        <p:nvPicPr>
          <p:cNvPr id="4" name="Symbol zastępczy zawartości 3" descr="Obraz zawierający elektronika, obwód, Inżynieria elektroniczna, Komponent elektroniczny&#10;&#10;Zawartość wygenerowana przez AI może być niepoprawna.">
            <a:extLst>
              <a:ext uri="{FF2B5EF4-FFF2-40B4-BE49-F238E27FC236}">
                <a16:creationId xmlns:a16="http://schemas.microsoft.com/office/drawing/2014/main" id="{C9A83D9A-C6FE-F153-303B-C135AFA03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1838609"/>
            <a:ext cx="5085525" cy="317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8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D32DBAF-6601-493C-3AEA-2135AF41B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1114923"/>
            <a:ext cx="3466164" cy="1360728"/>
          </a:xfrm>
        </p:spPr>
        <p:txBody>
          <a:bodyPr anchor="b">
            <a:normAutofit/>
          </a:bodyPr>
          <a:lstStyle/>
          <a:p>
            <a:r>
              <a:rPr lang="pl-PL" dirty="0"/>
              <a:t>PCB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746AD30-55FC-8306-2FAD-734176492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6" y="2584058"/>
            <a:ext cx="2521839" cy="315901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l-PL" sz="1200" b="1"/>
              <a:t>Najważniejsze cechy projektu PCB:</a:t>
            </a:r>
          </a:p>
          <a:p>
            <a:r>
              <a:rPr lang="pl-PL" sz="1200"/>
              <a:t>Cztero-warstwowa płytka – stabilna praca i wysoka jakość sygnału</a:t>
            </a:r>
            <a:br>
              <a:rPr lang="pl-PL" sz="1200"/>
            </a:br>
            <a:endParaRPr lang="pl-PL" sz="1200"/>
          </a:p>
          <a:p>
            <a:r>
              <a:rPr lang="pl-PL" sz="1200"/>
              <a:t>Rozdzielenie mas analogowej i cyfrowej – minimalne zakłócenia</a:t>
            </a:r>
          </a:p>
          <a:p>
            <a:r>
              <a:rPr lang="pl-PL" sz="1200"/>
              <a:t>Strefy masy i zasilania – lepsze ekranowanie i niskie szumy</a:t>
            </a:r>
            <a:br>
              <a:rPr lang="pl-PL" sz="1200"/>
            </a:br>
            <a:endParaRPr lang="pl-PL" sz="1200"/>
          </a:p>
          <a:p>
            <a:r>
              <a:rPr lang="pl-PL" sz="1200"/>
              <a:t>Przygotowanie do montażu SMD – kompaktowa, estetyczna płytka</a:t>
            </a:r>
          </a:p>
          <a:p>
            <a:r>
              <a:rPr lang="pl-PL" sz="1200"/>
              <a:t>Miejsce na radiator – zapewnia stabilność termiczną tranzystorów mocy</a:t>
            </a:r>
          </a:p>
        </p:txBody>
      </p:sp>
      <p:pic>
        <p:nvPicPr>
          <p:cNvPr id="5" name="Obraz 4" descr="Obraz zawierający tekst, mapa, zrzut ekranu, Prostokąt&#10;&#10;Zawartość wygenerowana przez AI może być niepoprawna.">
            <a:extLst>
              <a:ext uri="{FF2B5EF4-FFF2-40B4-BE49-F238E27FC236}">
                <a16:creationId xmlns:a16="http://schemas.microsoft.com/office/drawing/2014/main" id="{8E469822-EEED-AB36-B209-88C5AEABE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25" y="1781175"/>
            <a:ext cx="5956520" cy="396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813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otyw pakietu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Motyw pakietu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1218</Words>
  <Application>Microsoft Office PowerPoint</Application>
  <PresentationFormat>Pokaz na ekranie (4:3)</PresentationFormat>
  <Paragraphs>102</Paragraphs>
  <Slides>23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Neue Haas Grotesk Text Pro</vt:lpstr>
      <vt:lpstr>Office Theme</vt:lpstr>
      <vt:lpstr>Wzmacniacz audio z konwerterem S/PDIF i DAC</vt:lpstr>
      <vt:lpstr>Cel projektu</vt:lpstr>
      <vt:lpstr>Założenia projektowe</vt:lpstr>
      <vt:lpstr>Schemat blokowy</vt:lpstr>
      <vt:lpstr>Moduł konwertera S/PDIF → I2S</vt:lpstr>
      <vt:lpstr>Moduł konwertera  S/PDIF → I2S</vt:lpstr>
      <vt:lpstr>Moduł DAC – AD1955</vt:lpstr>
      <vt:lpstr>Moduł DAC – AD1955</vt:lpstr>
      <vt:lpstr>Moduł mikrokontrolera (MCU)</vt:lpstr>
      <vt:lpstr>Moduł mikrokontrolera (MCU)</vt:lpstr>
      <vt:lpstr>Moduł wzmacniacza mocy </vt:lpstr>
      <vt:lpstr>Moduł wzmacniacza mocy  </vt:lpstr>
      <vt:lpstr>Moduł zasilania</vt:lpstr>
      <vt:lpstr>Moduł zasilania</vt:lpstr>
      <vt:lpstr>Symulacja Wzmacniacza Mocy</vt:lpstr>
      <vt:lpstr>Symulacja Wzmacniacza Mocy</vt:lpstr>
      <vt:lpstr>Badanie Pasma Przenoszenia</vt:lpstr>
      <vt:lpstr>Badanie Wzmocnienia Napięciowego</vt:lpstr>
      <vt:lpstr>Badanie Mocy Wyjściowej  </vt:lpstr>
      <vt:lpstr>Badanie THD </vt:lpstr>
      <vt:lpstr>Badanie Sprawnośći</vt:lpstr>
      <vt:lpstr>PCB</vt:lpstr>
      <vt:lpstr>PCB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Maciej Molik</dc:creator>
  <cp:keywords/>
  <dc:description>generated using python-pptx</dc:description>
  <cp:lastModifiedBy>Maciej Molik</cp:lastModifiedBy>
  <cp:revision>9</cp:revision>
  <dcterms:created xsi:type="dcterms:W3CDTF">2013-01-27T09:14:16Z</dcterms:created>
  <dcterms:modified xsi:type="dcterms:W3CDTF">2025-06-09T07:10:13Z</dcterms:modified>
  <cp:category/>
</cp:coreProperties>
</file>